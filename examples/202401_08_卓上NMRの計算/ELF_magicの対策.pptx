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5F35F2-3C45-4B77-97E2-FB2468EA1055}" v="11" dt="2023-10-23T13:08:56.2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161" d="100"/>
          <a:sy n="161" d="100"/>
        </p:scale>
        <p:origin x="150"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賢悟 菅原" userId="396507af53af9dc8" providerId="LiveId" clId="{7F5F35F2-3C45-4B77-97E2-FB2468EA1055}"/>
    <pc:docChg chg="modSld">
      <pc:chgData name="賢悟 菅原" userId="396507af53af9dc8" providerId="LiveId" clId="{7F5F35F2-3C45-4B77-97E2-FB2468EA1055}" dt="2023-10-23T13:08:56.218" v="137"/>
      <pc:docMkLst>
        <pc:docMk/>
      </pc:docMkLst>
      <pc:sldChg chg="modSp mod">
        <pc:chgData name="賢悟 菅原" userId="396507af53af9dc8" providerId="LiveId" clId="{7F5F35F2-3C45-4B77-97E2-FB2468EA1055}" dt="2023-10-23T13:08:56.218" v="137"/>
        <pc:sldMkLst>
          <pc:docMk/>
          <pc:sldMk cId="2064765206" sldId="256"/>
        </pc:sldMkLst>
        <pc:spChg chg="mod">
          <ac:chgData name="賢悟 菅原" userId="396507af53af9dc8" providerId="LiveId" clId="{7F5F35F2-3C45-4B77-97E2-FB2468EA1055}" dt="2023-10-23T13:08:56.218" v="137"/>
          <ac:spMkLst>
            <pc:docMk/>
            <pc:sldMk cId="2064765206" sldId="256"/>
            <ac:spMk id="9" creationId="{3BE8DFD3-1A98-411C-58EC-0E0A988B0F7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AC54537-98E2-4A3C-B9A4-3A2177962179}"/>
              </a:ext>
            </a:extLst>
          </p:cNvPr>
          <p:cNvSpPr>
            <a:spLocks noGrp="1"/>
          </p:cNvSpPr>
          <p:nvPr>
            <p:ph type="dt" sz="half" idx="10"/>
          </p:nvPr>
        </p:nvSpPr>
        <p:spPr/>
        <p:txBody>
          <a:bodyPr/>
          <a:lstStyle/>
          <a:p>
            <a:fld id="{2C8BBF43-DE18-491C-962A-3E1DB84B70E5}" type="datetimeFigureOut">
              <a:rPr kumimoji="1" lang="ja-JP" altLang="en-US" smtClean="0"/>
              <a:t>2023/10/23</a:t>
            </a:fld>
            <a:endParaRPr kumimoji="1" lang="ja-JP" altLang="en-US"/>
          </a:p>
        </p:txBody>
      </p:sp>
      <p:sp>
        <p:nvSpPr>
          <p:cNvPr id="3" name="フッター プレースホルダー 2">
            <a:extLst>
              <a:ext uri="{FF2B5EF4-FFF2-40B4-BE49-F238E27FC236}">
                <a16:creationId xmlns:a16="http://schemas.microsoft.com/office/drawing/2014/main" id="{C80E95DD-7FDA-43C1-ABD8-DE3C28D79D0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37BADD0-F35E-4343-A4EA-61414C14DCE8}"/>
              </a:ext>
            </a:extLst>
          </p:cNvPr>
          <p:cNvSpPr>
            <a:spLocks noGrp="1"/>
          </p:cNvSpPr>
          <p:nvPr>
            <p:ph type="sldNum" sz="quarter" idx="12"/>
          </p:nvPr>
        </p:nvSpPr>
        <p:spPr/>
        <p:txBody>
          <a:bodyPr/>
          <a:lstStyle/>
          <a:p>
            <a:fld id="{009FEAA0-AD6C-411E-8E06-22C89FFAC5A2}" type="slidenum">
              <a:rPr kumimoji="1" lang="ja-JP" altLang="en-US" smtClean="0"/>
              <a:t>‹#›</a:t>
            </a:fld>
            <a:endParaRPr kumimoji="1" lang="ja-JP" altLang="en-US"/>
          </a:p>
        </p:txBody>
      </p:sp>
    </p:spTree>
    <p:extLst>
      <p:ext uri="{BB962C8B-B14F-4D97-AF65-F5344CB8AC3E}">
        <p14:creationId xmlns:p14="http://schemas.microsoft.com/office/powerpoint/2010/main" val="220915290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A03F371-49DB-46C8-9F20-D6C827F2E0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59CDA6C-220D-4578-BAD1-7E623827BC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5375F1F-1032-44BA-8717-FB7BFBE845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8BBF43-DE18-491C-962A-3E1DB84B70E5}" type="datetimeFigureOut">
              <a:rPr kumimoji="1" lang="ja-JP" altLang="en-US" smtClean="0"/>
              <a:t>2023/10/23</a:t>
            </a:fld>
            <a:endParaRPr kumimoji="1" lang="ja-JP" altLang="en-US"/>
          </a:p>
        </p:txBody>
      </p:sp>
      <p:sp>
        <p:nvSpPr>
          <p:cNvPr id="5" name="フッター プレースホルダー 4">
            <a:extLst>
              <a:ext uri="{FF2B5EF4-FFF2-40B4-BE49-F238E27FC236}">
                <a16:creationId xmlns:a16="http://schemas.microsoft.com/office/drawing/2014/main" id="{B08A99EB-4E12-4468-A491-CF5CF8D0BE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62720EF-FB95-4D8C-B815-624FE61349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9FEAA0-AD6C-411E-8E06-22C89FFAC5A2}" type="slidenum">
              <a:rPr kumimoji="1" lang="ja-JP" altLang="en-US" smtClean="0"/>
              <a:t>‹#›</a:t>
            </a:fld>
            <a:endParaRPr kumimoji="1" lang="ja-JP" altLang="en-US"/>
          </a:p>
        </p:txBody>
      </p:sp>
    </p:spTree>
    <p:extLst>
      <p:ext uri="{BB962C8B-B14F-4D97-AF65-F5344CB8AC3E}">
        <p14:creationId xmlns:p14="http://schemas.microsoft.com/office/powerpoint/2010/main" val="369161984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202B8D96-1633-796D-9F7E-CF8670A83C08}"/>
              </a:ext>
            </a:extLst>
          </p:cNvPr>
          <p:cNvPicPr>
            <a:picLocks noChangeAspect="1"/>
          </p:cNvPicPr>
          <p:nvPr/>
        </p:nvPicPr>
        <p:blipFill>
          <a:blip r:embed="rId2"/>
          <a:stretch>
            <a:fillRect/>
          </a:stretch>
        </p:blipFill>
        <p:spPr>
          <a:xfrm>
            <a:off x="431647" y="155272"/>
            <a:ext cx="5001323" cy="2838846"/>
          </a:xfrm>
          <a:prstGeom prst="rect">
            <a:avLst/>
          </a:prstGeom>
        </p:spPr>
      </p:pic>
      <p:sp>
        <p:nvSpPr>
          <p:cNvPr id="8" name="テキスト ボックス 7">
            <a:extLst>
              <a:ext uri="{FF2B5EF4-FFF2-40B4-BE49-F238E27FC236}">
                <a16:creationId xmlns:a16="http://schemas.microsoft.com/office/drawing/2014/main" id="{1788F482-8A88-EE88-F710-9582CA18E036}"/>
              </a:ext>
            </a:extLst>
          </p:cNvPr>
          <p:cNvSpPr txBox="1"/>
          <p:nvPr/>
        </p:nvSpPr>
        <p:spPr>
          <a:xfrm>
            <a:off x="-80093" y="3098635"/>
            <a:ext cx="6267311" cy="2769989"/>
          </a:xfrm>
          <a:prstGeom prst="rect">
            <a:avLst/>
          </a:prstGeom>
          <a:noFill/>
        </p:spPr>
        <p:txBody>
          <a:bodyPr wrap="square" lIns="0" tIns="0" rIns="0" bIns="0" rtlCol="0">
            <a:spAutoFit/>
          </a:bodyPr>
          <a:lstStyle/>
          <a:p>
            <a:r>
              <a:rPr kumimoji="1" lang="en-US" altLang="ja-JP" sz="2000" dirty="0"/>
              <a:t>ELF/MAGIC</a:t>
            </a:r>
            <a:r>
              <a:rPr kumimoji="1" lang="ja-JP" altLang="en-US" sz="2000" dirty="0"/>
              <a:t>は磁気モーメント法の改良版</a:t>
            </a:r>
            <a:br>
              <a:rPr kumimoji="1" lang="en-US" altLang="ja-JP" sz="2000" dirty="0"/>
            </a:br>
            <a:endParaRPr kumimoji="1" lang="en-US" altLang="ja-JP" sz="2000" dirty="0"/>
          </a:p>
          <a:p>
            <a:r>
              <a:rPr lang="ja-JP" altLang="en-US" sz="2000" dirty="0"/>
              <a:t>オリジナルの磁気モーメント法では、</a:t>
            </a:r>
            <a:br>
              <a:rPr lang="en-US" altLang="ja-JP" sz="2000" dirty="0"/>
            </a:br>
            <a:r>
              <a:rPr lang="ja-JP" altLang="en-US" sz="2000" dirty="0"/>
              <a:t>右のように磁束線に沿ってメッシュを切らないとならない。</a:t>
            </a:r>
            <a:endParaRPr lang="en-US" altLang="ja-JP" sz="2000" dirty="0"/>
          </a:p>
          <a:p>
            <a:endParaRPr lang="en-US" altLang="ja-JP" sz="2000" dirty="0"/>
          </a:p>
          <a:p>
            <a:r>
              <a:rPr lang="ja-JP" altLang="en-US" sz="2000" dirty="0"/>
              <a:t>そもそも離散化手法は、</a:t>
            </a:r>
            <a:r>
              <a:rPr lang="en-US" altLang="ja-JP" sz="2000" dirty="0"/>
              <a:t>dx, </a:t>
            </a:r>
            <a:r>
              <a:rPr lang="en-US" altLang="ja-JP" sz="2000" dirty="0" err="1"/>
              <a:t>dy</a:t>
            </a:r>
            <a:r>
              <a:rPr lang="en-US" altLang="ja-JP" sz="2000" dirty="0"/>
              <a:t>, </a:t>
            </a:r>
            <a:r>
              <a:rPr lang="en-US" altLang="ja-JP" sz="2000" dirty="0" err="1"/>
              <a:t>dz</a:t>
            </a:r>
            <a:r>
              <a:rPr lang="ja-JP" altLang="en-US" sz="2000" dirty="0"/>
              <a:t>を同じ測度で</a:t>
            </a:r>
            <a:r>
              <a:rPr lang="en-US" altLang="ja-JP" sz="2000" dirty="0"/>
              <a:t>0</a:t>
            </a:r>
            <a:r>
              <a:rPr lang="ja-JP" altLang="en-US" sz="2000" dirty="0"/>
              <a:t>に近づけないと厳密解に収束する保証はない。</a:t>
            </a:r>
            <a:r>
              <a:rPr lang="en-US" altLang="ja-JP" sz="2000" dirty="0"/>
              <a:t>FEM</a:t>
            </a:r>
            <a:r>
              <a:rPr lang="ja-JP" altLang="en-US" sz="2000" dirty="0"/>
              <a:t>はその条件が緩い。</a:t>
            </a:r>
            <a:endParaRPr lang="en-US" altLang="ja-JP" sz="2000" dirty="0"/>
          </a:p>
        </p:txBody>
      </p:sp>
      <p:sp>
        <p:nvSpPr>
          <p:cNvPr id="9" name="テキスト ボックス 8">
            <a:extLst>
              <a:ext uri="{FF2B5EF4-FFF2-40B4-BE49-F238E27FC236}">
                <a16:creationId xmlns:a16="http://schemas.microsoft.com/office/drawing/2014/main" id="{3BE8DFD3-1A98-411C-58EC-0E0A988B0F7B}"/>
              </a:ext>
            </a:extLst>
          </p:cNvPr>
          <p:cNvSpPr txBox="1"/>
          <p:nvPr/>
        </p:nvSpPr>
        <p:spPr>
          <a:xfrm>
            <a:off x="6247288" y="407195"/>
            <a:ext cx="5949193" cy="6155531"/>
          </a:xfrm>
          <a:prstGeom prst="rect">
            <a:avLst/>
          </a:prstGeom>
          <a:noFill/>
        </p:spPr>
        <p:txBody>
          <a:bodyPr wrap="square" lIns="0" tIns="0" rIns="0" bIns="0" rtlCol="0">
            <a:spAutoFit/>
          </a:bodyPr>
          <a:lstStyle/>
          <a:p>
            <a:r>
              <a:rPr kumimoji="1" lang="ja-JP" altLang="en-US" sz="2000" dirty="0"/>
              <a:t>しかし、磁気モーメント法および、</a:t>
            </a:r>
            <a:r>
              <a:rPr kumimoji="1" lang="en-US" altLang="ja-JP" sz="2000" dirty="0"/>
              <a:t>ELF/MAGIC</a:t>
            </a:r>
            <a:r>
              <a:rPr kumimoji="1" lang="ja-JP" altLang="en-US" sz="2000" dirty="0"/>
              <a:t>は、扁平メッシュや縦横比が大きいメッシュに対して敏感に計算精度が悪化する。</a:t>
            </a:r>
            <a:br>
              <a:rPr kumimoji="1" lang="en-US" altLang="ja-JP" sz="2000" dirty="0"/>
            </a:br>
            <a:r>
              <a:rPr kumimoji="1" lang="en-US" altLang="ja-JP" sz="2000" dirty="0"/>
              <a:t>(</a:t>
            </a:r>
            <a:r>
              <a:rPr kumimoji="1" lang="ja-JP" altLang="en-US" sz="2000" dirty="0"/>
              <a:t>そこに鈍感なくらい細かいメッシュは切れない</a:t>
            </a:r>
            <a:r>
              <a:rPr kumimoji="1" lang="en-US" altLang="ja-JP" sz="2000" dirty="0"/>
              <a:t>)</a:t>
            </a:r>
            <a:br>
              <a:rPr kumimoji="1" lang="en-US" altLang="ja-JP" sz="2000" dirty="0"/>
            </a:br>
            <a:br>
              <a:rPr kumimoji="1" lang="en-US" altLang="ja-JP" sz="2000" dirty="0"/>
            </a:br>
            <a:r>
              <a:rPr kumimoji="1" lang="en-US" altLang="ja-JP" sz="2000" dirty="0"/>
              <a:t>ELF/MAGIC</a:t>
            </a:r>
            <a:r>
              <a:rPr kumimoji="1" lang="ja-JP" altLang="en-US" sz="2000" dirty="0"/>
              <a:t>はガレルキン法ではなく、ポイントマッチングに近い考え方を持つ。ポイントマッチングの塩梅によって精度が変化する。</a:t>
            </a:r>
            <a:endParaRPr kumimoji="1" lang="en-US" altLang="ja-JP" sz="2000" dirty="0"/>
          </a:p>
          <a:p>
            <a:r>
              <a:rPr lang="en-US" altLang="ja-JP" sz="2000" dirty="0"/>
              <a:t>ELF/MAGIC</a:t>
            </a:r>
            <a:r>
              <a:rPr lang="ja-JP" altLang="en-US" sz="2000" dirty="0"/>
              <a:t>は、エッジ要素でない</a:t>
            </a:r>
            <a:br>
              <a:rPr lang="en-US" altLang="ja-JP" sz="2000" dirty="0"/>
            </a:br>
            <a:r>
              <a:rPr lang="en-US" altLang="ja-JP" sz="2000" dirty="0"/>
              <a:t>(Curl </a:t>
            </a:r>
            <a:r>
              <a:rPr lang="en-US" altLang="ja-JP" sz="2000" dirty="0" err="1"/>
              <a:t>comforming</a:t>
            </a:r>
            <a:r>
              <a:rPr lang="ja-JP" altLang="en-US" sz="2000" dirty="0"/>
              <a:t>でない</a:t>
            </a:r>
            <a:r>
              <a:rPr lang="en-US" altLang="ja-JP" sz="2000" dirty="0"/>
              <a:t>)</a:t>
            </a:r>
            <a:r>
              <a:rPr lang="ja-JP" altLang="en-US" sz="2000" dirty="0"/>
              <a:t>ため、</a:t>
            </a:r>
            <a:br>
              <a:rPr lang="en-US" altLang="ja-JP" sz="2000" dirty="0"/>
            </a:br>
            <a:r>
              <a:rPr lang="en-US" altLang="ja-JP" sz="2000" dirty="0"/>
              <a:t>rot H=0</a:t>
            </a:r>
            <a:r>
              <a:rPr lang="ja-JP" altLang="en-US" sz="2000" dirty="0"/>
              <a:t>を満たす解を原理的に得られる保証はない。</a:t>
            </a:r>
            <a:endParaRPr lang="en-US" altLang="ja-JP" sz="2000" dirty="0"/>
          </a:p>
          <a:p>
            <a:endParaRPr lang="en-US" altLang="ja-JP" sz="2000" dirty="0"/>
          </a:p>
          <a:p>
            <a:r>
              <a:rPr lang="ja-JP" altLang="en-US" sz="2000" dirty="0"/>
              <a:t>まずは、メッシュ分割に注意する。</a:t>
            </a:r>
            <a:endParaRPr lang="en-US" altLang="ja-JP" sz="2000" dirty="0"/>
          </a:p>
          <a:p>
            <a:r>
              <a:rPr lang="ja-JP" altLang="en-US" sz="2000" dirty="0"/>
              <a:t>次に</a:t>
            </a:r>
            <a:r>
              <a:rPr lang="en-US" altLang="ja-JP" sz="2000" dirty="0"/>
              <a:t>ELF</a:t>
            </a:r>
            <a:r>
              <a:rPr lang="ja-JP" altLang="en-US" sz="2000" dirty="0"/>
              <a:t>の裏オプションが存在するため、</a:t>
            </a:r>
            <a:endParaRPr lang="en-US" altLang="ja-JP" sz="2000" dirty="0"/>
          </a:p>
          <a:p>
            <a:r>
              <a:rPr lang="ja-JP" altLang="en-US" sz="2000" dirty="0"/>
              <a:t>それを矢野氏に公開してもらい、</a:t>
            </a:r>
            <a:endParaRPr lang="en-US" altLang="ja-JP" sz="2000" dirty="0"/>
          </a:p>
          <a:p>
            <a:r>
              <a:rPr lang="ja-JP" altLang="en-US" sz="2000" dirty="0"/>
              <a:t>その値を変えて</a:t>
            </a:r>
            <a:r>
              <a:rPr lang="en-US" altLang="ja-JP" sz="2000" dirty="0" err="1"/>
              <a:t>rotH</a:t>
            </a:r>
            <a:r>
              <a:rPr lang="en-US" altLang="ja-JP" sz="2000" dirty="0"/>
              <a:t>=0</a:t>
            </a:r>
            <a:r>
              <a:rPr lang="ja-JP" altLang="en-US" sz="2000" dirty="0"/>
              <a:t>となる解が得られることを</a:t>
            </a:r>
            <a:endParaRPr lang="en-US" altLang="ja-JP" sz="2000" dirty="0"/>
          </a:p>
          <a:p>
            <a:r>
              <a:rPr lang="ja-JP" altLang="en-US" sz="2000" dirty="0"/>
              <a:t>祈る</a:t>
            </a:r>
            <a:r>
              <a:rPr lang="en-US" altLang="ja-JP" sz="2000" dirty="0"/>
              <a:t>(</a:t>
            </a:r>
            <a:r>
              <a:rPr lang="ja-JP" altLang="en-US" sz="2000" dirty="0"/>
              <a:t>何度かやって運が良い値を採用</a:t>
            </a:r>
            <a:r>
              <a:rPr lang="en-US" altLang="ja-JP" sz="2000"/>
              <a:t>)</a:t>
            </a:r>
            <a:endParaRPr lang="en-US" altLang="ja-JP" sz="2000" dirty="0"/>
          </a:p>
          <a:p>
            <a:endParaRPr lang="en-US" altLang="ja-JP" sz="2000" dirty="0"/>
          </a:p>
          <a:p>
            <a:endParaRPr lang="en-US" altLang="ja-JP" sz="2000" dirty="0"/>
          </a:p>
          <a:p>
            <a:endParaRPr lang="en-US" altLang="ja-JP" sz="2000" dirty="0"/>
          </a:p>
        </p:txBody>
      </p:sp>
    </p:spTree>
    <p:extLst>
      <p:ext uri="{BB962C8B-B14F-4D97-AF65-F5344CB8AC3E}">
        <p14:creationId xmlns:p14="http://schemas.microsoft.com/office/powerpoint/2010/main" val="206476520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potx" id="{AD0ED61F-A48E-496A-B45D-F93A36FA261F}" vid="{8E1B7DEF-5A4F-4339-A2E1-BF7B64A48027}"/>
    </a:ext>
  </a:extLst>
</a:theme>
</file>

<file path=docProps/app.xml><?xml version="1.0" encoding="utf-8"?>
<Properties xmlns="http://schemas.openxmlformats.org/officeDocument/2006/extended-properties" xmlns:vt="http://schemas.openxmlformats.org/officeDocument/2006/docPropsVTypes">
  <Template>blank</Template>
  <TotalTime>79</TotalTime>
  <Words>221</Words>
  <Application>Microsoft Office PowerPoint</Application>
  <PresentationFormat>ワイド画面</PresentationFormat>
  <Paragraphs>13</Paragraphs>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游ゴシック</vt:lpstr>
      <vt:lpstr>游ゴシック Light</vt:lpstr>
      <vt:lpstr>Arial</vt:lpstr>
      <vt:lpstr>Office テーマ</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賢悟 菅原</dc:creator>
  <cp:lastModifiedBy>賢悟 菅原</cp:lastModifiedBy>
  <cp:revision>1</cp:revision>
  <dcterms:created xsi:type="dcterms:W3CDTF">2023-10-23T11:22:39Z</dcterms:created>
  <dcterms:modified xsi:type="dcterms:W3CDTF">2023-10-23T13:08:57Z</dcterms:modified>
</cp:coreProperties>
</file>